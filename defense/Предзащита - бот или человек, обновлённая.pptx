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97" autoAdjust="0"/>
    <p:restoredTop sz="94660"/>
  </p:normalViewPr>
  <p:slideViewPr>
    <p:cSldViewPr snapToGrid="0">
      <p:cViewPr>
        <p:scale>
          <a:sx n="50" d="100"/>
          <a:sy n="50" d="100"/>
        </p:scale>
        <p:origin x="1626" y="8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Доля ботов, %</c:v>
          </c:tx>
          <c:spPr>
            <a:solidFill>
              <a:srgbClr val="7055F4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solidFill>
                      <a:srgbClr val="1C1A23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Меньше</c:v>
                </c:pt>
                <c:pt idx="1">
                  <c:v>Поровну</c:v>
                </c:pt>
                <c:pt idx="2">
                  <c:v>Больше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4.54</c:v>
                </c:pt>
                <c:pt idx="1">
                  <c:v>37.14</c:v>
                </c:pt>
                <c:pt idx="2">
                  <c:v>80.930000000000007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F1-4A58-8E1B-C9B6C0E2B1B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1C1A23"/>
                </a:solidFill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5616F"/>
                </a:solidFill>
              </a:defRPr>
            </a:pPr>
            <a:endParaRPr lang="ru-RU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Доля ботов, %</c:v>
          </c:tx>
          <c:spPr>
            <a:solidFill>
              <a:srgbClr val="7055F4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solidFill>
                      <a:srgbClr val="1C1A23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0</c:v>
                </c:pt>
                <c:pt idx="1">
                  <c:v>0-0,25</c:v>
                </c:pt>
                <c:pt idx="2">
                  <c:v>0,25-0,5</c:v>
                </c:pt>
                <c:pt idx="3">
                  <c:v>0,5-0,75</c:v>
                </c:pt>
                <c:pt idx="4">
                  <c:v>&gt;0,75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20.75</c:v>
                </c:pt>
                <c:pt idx="1">
                  <c:v>44.58</c:v>
                </c:pt>
                <c:pt idx="2">
                  <c:v>58.41</c:v>
                </c:pt>
                <c:pt idx="3">
                  <c:v>84.47</c:v>
                </c:pt>
                <c:pt idx="4">
                  <c:v>90.44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9-4B5E-979C-5BA3BC17B5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1C1A23"/>
                </a:solidFill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5616F"/>
                </a:solidFill>
              </a:defRPr>
            </a:pPr>
            <a:endParaRPr lang="ru-RU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Изменение LogLoss</c:v>
          </c:tx>
          <c:spPr>
            <a:solidFill>
              <a:srgbClr val="7055F4"/>
            </a:solidFill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solidFill>
                      <a:srgbClr val="1C1A23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Ответы и повторы</c:v>
                </c:pt>
                <c:pt idx="1">
                  <c:v>Порядок и ходы</c:v>
                </c:pt>
                <c:pt idx="2">
                  <c:v>Стиль и алфавит</c:v>
                </c:pt>
                <c:pt idx="3">
                  <c:v>Длина и разнообразие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7.2800000000000004E-2</c:v>
                </c:pt>
                <c:pt idx="1">
                  <c:v>4.0300000000000002E-2</c:v>
                </c:pt>
                <c:pt idx="2">
                  <c:v>2.2100000000000002E-2</c:v>
                </c:pt>
                <c:pt idx="3">
                  <c:v>8.9999999999999998E-4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41-4650-8B24-230A24A4A36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1C1A23"/>
                </a:solidFill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.5000000000000006E-2"/>
          <c:min val="0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5616F"/>
                </a:solidFill>
              </a:defRPr>
            </a:pPr>
            <a:endParaRPr lang="ru-RU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Задача - определить вероятность того, что участник диалога является ботом. Расскажу, какие закономерности нашлись в данных, почему появилась текущая модель и как проверено её качество.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Предсказываем вероятность для каждого участника диалога. Train содержит 1516 диалогов и 3032 участника, test 379 диалогов и 758 участников. Конкурсная метрика LogLoss штрафует уверенные ошибки, поэтому нельзя ограничиться бинарной меткой.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Медиана длины реплики равна 8 символам. Короткие ответы дают мало текста, поэтому я стала изучать структуру диалога и реакцию на собеседника. На гистограмме показаны длины до 100 символов, остальные 3,9% указаны в подписи.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Сравнила число реплик двух участников одного диалога. Если участник написал на одну реплику меньше, доля ботов 4,5%. При равенстве 37,1%, если больше - 80,9%. Среди авторов последней реплики ботов 73%, у остальных 8,6%. Это закономерность данного набора данных, которая привела к признакам n_diff и is_last_speaker.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реплики</a:t>
            </a:r>
            <a:r>
              <a:rPr dirty="0"/>
              <a:t> </a:t>
            </a:r>
            <a:r>
              <a:rPr dirty="0" err="1"/>
              <a:t>участника</a:t>
            </a:r>
            <a:r>
              <a:rPr dirty="0"/>
              <a:t> </a:t>
            </a:r>
            <a:r>
              <a:rPr dirty="0" err="1"/>
              <a:t>брала</a:t>
            </a:r>
            <a:r>
              <a:rPr dirty="0"/>
              <a:t> </a:t>
            </a:r>
            <a:r>
              <a:rPr dirty="0" err="1"/>
              <a:t>предыдущее</a:t>
            </a:r>
            <a:r>
              <a:rPr dirty="0"/>
              <a:t> </a:t>
            </a:r>
            <a:r>
              <a:rPr dirty="0" err="1"/>
              <a:t>сообщение</a:t>
            </a:r>
            <a:r>
              <a:rPr dirty="0"/>
              <a:t> </a:t>
            </a:r>
            <a:r>
              <a:rPr dirty="0" err="1"/>
              <a:t>собеседника</a:t>
            </a:r>
            <a:r>
              <a:rPr dirty="0"/>
              <a:t> и </a:t>
            </a:r>
            <a:r>
              <a:rPr dirty="0" err="1"/>
              <a:t>считала</a:t>
            </a:r>
            <a:r>
              <a:rPr dirty="0"/>
              <a:t> </a:t>
            </a:r>
            <a:r>
              <a:rPr dirty="0" err="1"/>
              <a:t>пересечение</a:t>
            </a:r>
            <a:r>
              <a:rPr dirty="0"/>
              <a:t> </a:t>
            </a:r>
            <a:r>
              <a:rPr dirty="0" err="1"/>
              <a:t>множеств</a:t>
            </a:r>
            <a:r>
              <a:rPr dirty="0"/>
              <a:t> </a:t>
            </a:r>
            <a:r>
              <a:rPr dirty="0" err="1"/>
              <a:t>слов</a:t>
            </a:r>
            <a:r>
              <a:rPr dirty="0"/>
              <a:t>.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нулевом</a:t>
            </a:r>
            <a:r>
              <a:rPr dirty="0"/>
              <a:t> </a:t>
            </a:r>
            <a:r>
              <a:rPr dirty="0" err="1"/>
              <a:t>среднем</a:t>
            </a:r>
            <a:r>
              <a:rPr dirty="0"/>
              <a:t> </a:t>
            </a:r>
            <a:r>
              <a:rPr dirty="0" err="1"/>
              <a:t>пересечении</a:t>
            </a:r>
            <a:r>
              <a:rPr dirty="0"/>
              <a:t> </a:t>
            </a:r>
            <a:r>
              <a:rPr dirty="0" err="1"/>
              <a:t>доля</a:t>
            </a:r>
            <a:r>
              <a:rPr dirty="0"/>
              <a:t> </a:t>
            </a:r>
            <a:r>
              <a:rPr dirty="0" err="1"/>
              <a:t>ботов</a:t>
            </a:r>
            <a:r>
              <a:rPr dirty="0"/>
              <a:t> 20,8%,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пересечении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0,75 - 90,4%. </a:t>
            </a:r>
            <a:r>
              <a:rPr dirty="0" err="1"/>
              <a:t>Точный</a:t>
            </a:r>
            <a:r>
              <a:rPr dirty="0"/>
              <a:t> </a:t>
            </a:r>
            <a:r>
              <a:rPr dirty="0" err="1"/>
              <a:t>повтор</a:t>
            </a:r>
            <a:r>
              <a:rPr dirty="0"/>
              <a:t> </a:t>
            </a:r>
            <a:r>
              <a:rPr dirty="0" err="1"/>
              <a:t>хотя</a:t>
            </a:r>
            <a:r>
              <a:rPr dirty="0"/>
              <a:t> </a:t>
            </a:r>
            <a:r>
              <a:rPr dirty="0" err="1"/>
              <a:t>бы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предыдущей</a:t>
            </a:r>
            <a:r>
              <a:rPr dirty="0"/>
              <a:t> </a:t>
            </a:r>
            <a:r>
              <a:rPr dirty="0" err="1"/>
              <a:t>реплики</a:t>
            </a:r>
            <a:r>
              <a:rPr dirty="0"/>
              <a:t> </a:t>
            </a:r>
            <a:r>
              <a:rPr dirty="0" err="1"/>
              <a:t>связан</a:t>
            </a:r>
            <a:r>
              <a:rPr dirty="0"/>
              <a:t> с </a:t>
            </a:r>
            <a:r>
              <a:rPr dirty="0" err="1"/>
              <a:t>долей</a:t>
            </a:r>
            <a:r>
              <a:rPr dirty="0"/>
              <a:t> </a:t>
            </a:r>
            <a:r>
              <a:rPr dirty="0" err="1"/>
              <a:t>ботов</a:t>
            </a:r>
            <a:r>
              <a:rPr dirty="0"/>
              <a:t> 79,8% </a:t>
            </a:r>
            <a:r>
              <a:rPr dirty="0" err="1"/>
              <a:t>против</a:t>
            </a:r>
            <a:r>
              <a:rPr dirty="0"/>
              <a:t> 30,7%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повтора</a:t>
            </a:r>
            <a:r>
              <a:rPr dirty="0"/>
              <a:t>. Это </a:t>
            </a:r>
            <a:r>
              <a:rPr dirty="0" err="1"/>
              <a:t>основание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признаков</a:t>
            </a:r>
            <a:r>
              <a:rPr dirty="0"/>
              <a:t> overlap и echo.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Обучила отдельный классификатор отличать train от test по числовым признакам с разделением по диалогам. ROC AUC 0,520 близок к случайному угадыванию. Это говорит лишь о слабом различии по выбранным признакам. Сдвиг текстов или меток таким способом не исключён.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Порядок реплик отражает найденную асимметрию ролей. Признаки ответа сравнивают реплику с предыдущей фразой собеседника: пересечение слов, точный повтор, общий словарь. Стиль письма учитывает регистр, алфавит и пунктуацию. Длина и разнообразие добавлены как контрольная группа, но позднее их отдельный вклад оказался мал.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Я превратила наблюдения EDA в числовые признаки участника. Порядок ходов описывают n_diff и is_last_speaker. Реакцию на предыдущую реплику описывают пересечение слов, сходство строк, точный повтор и включение одной строки в другую. Стиль и длина дополняют эти признаки. Всего в финальной модели 52 числовых признака, отдельно добавляются 48 компонент SVD.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Постоянная вероятность дала LogLoss 0,6761. CatBoost на числовых признаках 0,2032, CatBoost с 48 SVD-компонентами символьного TF-IDF 0,1840, логистическая регрессия на словных и символьных n-граммах 0,4820. Отдельно проверены ExtraTrees, HistGradientBoosting и NB-SVM. Они не дали улучшения. Все числа на этом слайде относятся к одному OOF разбиению seed 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Смешала три вероятностные ветки. 23,75% числовой CatBoost, 71,25% CatBoost с SVD и 5% текстовой логистической регрессии. Текстовая ветка слаба отдельно, но её ошибки отличаются и смесь выигрывает. Затем применяется поправка на состав пары: в train не было диалогов с двумя ботами. На OOF смесь до поправки 0,1823, после 0,1759. Для test отсутствие пары 11 остаётся предположением.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каждой группы заново обучала CatBoost с SVD без неё. Удаление реакции на собеседника ухудшило LogLoss на 0,0728, порядка и числа ходов на 0,0403, стиля на 0,0221, длины и разнообразия только на 0,0009. База этого исследования 0,1808 после поправки на пару. Это вклад группы в данной модели, а не причинное влияние отдельных признаков.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Проверила 11 новых показателей реакции: новые слова, достраивание и обрезание реплики, общий префикс и суффикс, ответы вопросом на вопрос. Пакет ухудшил смесь на seed 23 и seed 42, а по одному ни один признак не улучшил оба разбиения. Более сильный L2 также не дал устойчивого выигрыша. Увеличение числа деревьев с 600 до 800 улучшило итоговую смесь на трёх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Фиолетовая линия показывает локальный OOF LogLoss, синяя публичный LogLoss по четырём загрузкам. Соответствие старых загрузок версиям пока предварительное: все они были загружены как submission.csv, а исходные загруженные файлы недоступны. Две оценки рассчитаны на разных выборках. Показанный результат 0,1385 дал четвёртое место на публичной части в момент снимка.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Самые трудные случаи - короткие диалоги. Сильный признак последнего говорящего может отражать способ генерации датасета. Правило об отсутствии двух ботов известно только на train. Публичные баллы на 66% test и могут не повториться на приватной части. В следующей итерации стоит проверить калибровку и сравнить пары с поправкой и без неё, а затем сделать сервис для предсказания на новых диалогах.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main.py одна точка входа. По команде с фиксированными зависимостями скрипт загружает исходные JSON и CSV, проверяет схему, формирует таблицы, делает EDA, обучение и OOF, сохраняет модели, метрики и submission.csv. Ниже фрагмент настоящего кода с номерами строк.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Сообщение описано моделью Message, а параметры запуска моделью Settings. При чтении JSON каждое сообщение проходит model_validate. Если в диалоге отсутствует один из участников, скрипт завершает работу с ошибкой. На слайде прямой фрагмент main.py.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Pydantic проверяет структуру отдельного сообщения. Polars превращает диалоги в таблицы сообщений и участников, а затем сохраняет подготовленные данные в Parquet. На слайде соответствующие фрагменты main.py.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сообщения участника берётся предыдущая реплика собеседника. В коде из этих пар получаются пересечение слов, точный повтор и другие признаки реакции. Этот фрагмент связывает наблюдения EDA с реализацией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pyproject.toml перечислены пакеты проекта. uv.lock фиксирует конкретные версии, чтобы воспроизвести запуск. Здесь видны зависимости и примеры записей lock-файла.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интерфейсе MLflow видны отдельные модельные ветки и их OOF LogLoss. Скриншот интерфейса будет вставлен перед защитой. Для него открой эксперимент bot_detection, выбери Model training и включи колонку oof_logloss. Код логирования находится в main.py.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263C2-313E-900D-11D2-6F27EDA2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F28F1-9A33-BB4F-5BE0-1EA67D8FC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77763-C5A6-FD2A-A360-37FE5ED2A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Задача - определить вероятность того, что участник диалога является ботом. Расскажу, какие закономерности нашлись в данных, почему появилась текущая модель и как проверено её качество.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52D29-C855-B7AC-6BCA-D09B615CC95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7795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0D939E5-89E9-4D1C-BDC1-C309FFB5D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248A2B5-D4DC-457D-A29B-6020A860F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4C4ECF9-4328-4175-B6AC-4CE1349F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E8D494C-F284-4C9D-88F0-57A02DBCD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3637BC-7470-460E-8064-CEA557F9D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6AD06DC-F92F-4304-A723-84FC85E3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409047F-F2F0-4CCE-A3A8-8F336F488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EFA8961-22A2-4802-BA2F-ED4F8A6626F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8B65968-3068-4AFC-A25F-975CA2436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5181DC3-2956-423A-96E8-5B5B7FD44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07B3E0E-707B-4660-9E62-19B926035B24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10477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5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5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Бот или человек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129E7DB-A447-4BF8-8FF3-98593C416F9D}"/>
              </a:ext>
            </a:extLst>
          </p:cNvPr>
          <p:cNvSpPr>
            <a:spLocks noGrp="1"/>
          </p:cNvSpPr>
          <p:nvPr/>
        </p:nvSpPr>
        <p:spPr>
          <a:xfrm>
            <a:off x="752475" y="2781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lang="ru-RU" sz="2325" b="0" dirty="0">
                <a:solidFill>
                  <a:srgbClr val="1C1A23"/>
                </a:solidFill>
                <a:latin typeface="Arial"/>
                <a:ea typeface="Arial"/>
                <a:cs typeface="Arial"/>
              </a:rPr>
              <a:t>Предзащита</a:t>
            </a:r>
            <a:endParaRPr sz="2325" b="0" dirty="0">
              <a:solidFill>
                <a:srgbClr val="1C1A2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DFB474D-BEB3-478B-A07E-04EB226EC86F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pPr>
            <a:r>
              <a:rPr lang="ru-RU" sz="1725" dirty="0">
                <a:solidFill>
                  <a:srgbClr val="65616F"/>
                </a:solidFill>
                <a:latin typeface="Arial"/>
                <a:ea typeface="Arial"/>
                <a:cs typeface="Arial"/>
              </a:rPr>
              <a:t>Майя Горшенина</a:t>
            </a:r>
            <a:endParaRPr sz="1725" b="0" dirty="0">
              <a:solidFill>
                <a:srgbClr val="65616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489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EF3F1E5-9DB2-4CDB-B0FF-68D2580A15DA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Задача и критерий качества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CAB5C7-D897-4172-829B-2682EC06D507}"/>
              </a:ext>
            </a:extLst>
          </p:cNvPr>
          <p:cNvSpPr>
            <a:spLocks noGrp="1"/>
          </p:cNvSpPr>
          <p:nvPr/>
        </p:nvSpPr>
        <p:spPr>
          <a:xfrm>
            <a:off x="809625" y="1647825"/>
            <a:ext cx="4191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55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5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1516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F307E7E-E98E-444B-A7C3-3E4E8DCD3BB7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428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диалогов в train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EE2552-0867-4473-A97B-E2B5F1B4AEB6}"/>
              </a:ext>
            </a:extLst>
          </p:cNvPr>
          <p:cNvSpPr>
            <a:spLocks noGrp="1"/>
          </p:cNvSpPr>
          <p:nvPr/>
        </p:nvSpPr>
        <p:spPr>
          <a:xfrm>
            <a:off x="6648450" y="1647825"/>
            <a:ext cx="409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55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5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379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57BC99B-85A2-4BD4-8420-21D6938BC25D}"/>
              </a:ext>
            </a:extLst>
          </p:cNvPr>
          <p:cNvSpPr>
            <a:spLocks noGrp="1"/>
          </p:cNvSpPr>
          <p:nvPr/>
        </p:nvSpPr>
        <p:spPr>
          <a:xfrm>
            <a:off x="6677025" y="268605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диалогов в test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1063284-69D4-4D2A-BA75-F8E7A3FE1836}"/>
              </a:ext>
            </a:extLst>
          </p:cNvPr>
          <p:cNvSpPr>
            <a:spLocks noGrp="1"/>
          </p:cNvSpPr>
          <p:nvPr/>
        </p:nvSpPr>
        <p:spPr>
          <a:xfrm>
            <a:off x="809625" y="40005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1A23"/>
                </a:solidFill>
                <a:latin typeface="Arial"/>
                <a:ea typeface="Arial"/>
                <a:cs typeface="Arial"/>
              </a:rPr>
              <a:t>Объект предсказания - участник, объект валидации - диалог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C5E449D-CAD2-4C26-98C2-D4D118EA9CF7}"/>
              </a:ext>
            </a:extLst>
          </p:cNvPr>
          <p:cNvSpPr>
            <a:spLocks noGrp="1"/>
          </p:cNvSpPr>
          <p:nvPr/>
        </p:nvSpPr>
        <p:spPr>
          <a:xfrm>
            <a:off x="809625" y="50482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16F"/>
                </a:solidFill>
                <a:latin typeface="Arial"/>
                <a:ea typeface="Arial"/>
                <a:cs typeface="Arial"/>
              </a:rPr>
              <a:t>LogLoss оценивает вероятности. Меньше значение - лучше.</a:t>
            </a:r>
          </a:p>
        </p:txBody>
      </p:sp>
    </p:spTree>
    <p:extLst>
      <p:ext uri="{BB962C8B-B14F-4D97-AF65-F5344CB8AC3E}">
        <p14:creationId xmlns:p14="http://schemas.microsoft.com/office/powerpoint/2010/main" val="230767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A8EBD75-6644-4320-8449-729730360351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Реплики очень короткие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09B4849-7E62-4CAE-9D37-6D048EE60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2319" y="1285875"/>
            <a:ext cx="9507361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74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A4EFCCD-F3AE-4857-96B4-65143950FAFC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Порядок реплик связан с меткой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1B5A2AB-2D6A-47EB-9B40-206D2D09EB21}"/>
              </a:ext>
            </a:extLst>
          </p:cNvPr>
          <p:cNvSpPr>
            <a:spLocks noGrp="1"/>
          </p:cNvSpPr>
          <p:nvPr/>
        </p:nvSpPr>
        <p:spPr>
          <a:xfrm>
            <a:off x="742950" y="136207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C1A23"/>
                </a:solidFill>
                <a:latin typeface="Arial"/>
                <a:ea typeface="Arial"/>
                <a:cs typeface="Arial"/>
              </a:rPr>
              <a:t>Доля ботов по разнице в числе реплик, %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69675075-5788-4541-81C8-1CF5EA3B465D}"/>
              </a:ext>
            </a:extLst>
          </p:cNvPr>
          <p:cNvGraphicFramePr/>
          <p:nvPr/>
        </p:nvGraphicFramePr>
        <p:xfrm>
          <a:off x="714375" y="2047875"/>
          <a:ext cx="10668000" cy="3495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E41C950-811A-4727-88E6-72EE0858C5F5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616F"/>
                </a:solidFill>
                <a:latin typeface="Arial"/>
                <a:ea typeface="Arial"/>
                <a:cs typeface="Arial"/>
              </a:rPr>
              <a:t>991 участников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C1ECCE5-124F-48DF-8681-8575AD6C6FB5}"/>
              </a:ext>
            </a:extLst>
          </p:cNvPr>
          <p:cNvSpPr>
            <a:spLocks noGrp="1"/>
          </p:cNvSpPr>
          <p:nvPr/>
        </p:nvSpPr>
        <p:spPr>
          <a:xfrm>
            <a:off x="4381500" y="5715000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616F"/>
                </a:solidFill>
                <a:latin typeface="Arial"/>
                <a:ea typeface="Arial"/>
                <a:cs typeface="Arial"/>
              </a:rPr>
              <a:t>1050 участников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F66BBBF-4FE4-4B3A-8C79-1804AE414F49}"/>
              </a:ext>
            </a:extLst>
          </p:cNvPr>
          <p:cNvSpPr>
            <a:spLocks noGrp="1"/>
          </p:cNvSpPr>
          <p:nvPr/>
        </p:nvSpPr>
        <p:spPr>
          <a:xfrm>
            <a:off x="8096250" y="5715000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616F"/>
                </a:solidFill>
                <a:latin typeface="Arial"/>
                <a:ea typeface="Arial"/>
                <a:cs typeface="Arial"/>
              </a:rPr>
              <a:t>991 участников</a:t>
            </a:r>
          </a:p>
        </p:txBody>
      </p:sp>
    </p:spTree>
    <p:extLst>
      <p:ext uri="{BB962C8B-B14F-4D97-AF65-F5344CB8AC3E}">
        <p14:creationId xmlns:p14="http://schemas.microsoft.com/office/powerpoint/2010/main" val="178215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617D269-0715-4900-B116-5EA295F21FB5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Реакция на собеседника даёт сильный сигнал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F878E2A-8414-4CF5-BCE4-48BFBE20AB9F}"/>
              </a:ext>
            </a:extLst>
          </p:cNvPr>
          <p:cNvSpPr>
            <a:spLocks noGrp="1"/>
          </p:cNvSpPr>
          <p:nvPr/>
        </p:nvSpPr>
        <p:spPr>
          <a:xfrm>
            <a:off x="742950" y="1362075"/>
            <a:ext cx="10668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A23"/>
                </a:solidFill>
                <a:latin typeface="Arial"/>
                <a:ea typeface="Arial"/>
                <a:cs typeface="Arial"/>
              </a:rPr>
              <a:t>Доля ботов при разном пересечении слов с предыдущей репликой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4B814C98-8E8B-4083-A4FA-C3B64D6DFF8D}"/>
              </a:ext>
            </a:extLst>
          </p:cNvPr>
          <p:cNvGraphicFramePr/>
          <p:nvPr/>
        </p:nvGraphicFramePr>
        <p:xfrm>
          <a:off x="685800" y="2133600"/>
          <a:ext cx="10744200" cy="328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7A86E18-DD3C-4E33-91A3-6A47CCFA196B}"/>
              </a:ext>
            </a:extLst>
          </p:cNvPr>
          <p:cNvSpPr>
            <a:spLocks noGrp="1"/>
          </p:cNvSpPr>
          <p:nvPr/>
        </p:nvSpPr>
        <p:spPr>
          <a:xfrm>
            <a:off x="809625" y="5657850"/>
            <a:ext cx="638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Точный повтор: 79,8% ботов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96DFA50-30ED-433D-8F11-3A98293DCE5F}"/>
              </a:ext>
            </a:extLst>
          </p:cNvPr>
          <p:cNvSpPr>
            <a:spLocks noGrp="1"/>
          </p:cNvSpPr>
          <p:nvPr/>
        </p:nvSpPr>
        <p:spPr>
          <a:xfrm>
            <a:off x="7191375" y="56578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Без повтора: 30,7%</a:t>
            </a:r>
          </a:p>
        </p:txBody>
      </p:sp>
    </p:spTree>
    <p:extLst>
      <p:ext uri="{BB962C8B-B14F-4D97-AF65-F5344CB8AC3E}">
        <p14:creationId xmlns:p14="http://schemas.microsoft.com/office/powerpoint/2010/main" val="228316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74F695A-1119-42A4-AEF6-CE3D8E39286A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Проверка сходства train и test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B844A75-9AED-45AA-9E67-1CA5A55A6211}"/>
              </a:ext>
            </a:extLst>
          </p:cNvPr>
          <p:cNvSpPr>
            <a:spLocks noGrp="1"/>
          </p:cNvSpPr>
          <p:nvPr/>
        </p:nvSpPr>
        <p:spPr>
          <a:xfrm>
            <a:off x="790575" y="1638300"/>
            <a:ext cx="6667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32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832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832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0,520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8486BEE-5D46-4A14-A850-A8091C4B920C}"/>
              </a:ext>
            </a:extLst>
          </p:cNvPr>
          <p:cNvSpPr>
            <a:spLocks noGrp="1"/>
          </p:cNvSpPr>
          <p:nvPr/>
        </p:nvSpPr>
        <p:spPr>
          <a:xfrm>
            <a:off x="857250" y="3190875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C1A23"/>
                </a:solidFill>
                <a:latin typeface="Arial"/>
                <a:ea typeface="Arial"/>
                <a:cs typeface="Arial"/>
              </a:rPr>
              <a:t>ROC AUC adversarial validation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2914ECC-08BC-488E-8B98-CCE5C689765C}"/>
              </a:ext>
            </a:extLst>
          </p:cNvPr>
          <p:cNvSpPr>
            <a:spLocks noGrp="1"/>
          </p:cNvSpPr>
          <p:nvPr/>
        </p:nvSpPr>
        <p:spPr>
          <a:xfrm>
            <a:off x="809625" y="4686300"/>
            <a:ext cx="10382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616F"/>
                </a:solidFill>
                <a:latin typeface="Arial"/>
                <a:ea typeface="Arial"/>
                <a:cs typeface="Arial"/>
              </a:rPr>
              <a:t>Наиболее различались разброс длины реплик и сходство соседних сообщений одного участника.</a:t>
            </a:r>
          </a:p>
        </p:txBody>
      </p:sp>
    </p:spTree>
    <p:extLst>
      <p:ext uri="{BB962C8B-B14F-4D97-AF65-F5344CB8AC3E}">
        <p14:creationId xmlns:p14="http://schemas.microsoft.com/office/powerpoint/2010/main" val="557898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4C359D-3B77-46FE-9735-5534491053FE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Идея признаков из анализа данных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FFFE082-D7EA-4613-9B2B-B6B24C63D57D}"/>
              </a:ext>
            </a:extLst>
          </p:cNvPr>
          <p:cNvSpPr>
            <a:spLocks noGrp="1"/>
          </p:cNvSpPr>
          <p:nvPr/>
        </p:nvSpPr>
        <p:spPr>
          <a:xfrm>
            <a:off x="790575" y="1628775"/>
            <a:ext cx="5048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Порядок и число ходов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8F56398-951F-4344-922D-FDB2430AAA1F}"/>
              </a:ext>
            </a:extLst>
          </p:cNvPr>
          <p:cNvSpPr>
            <a:spLocks noGrp="1"/>
          </p:cNvSpPr>
          <p:nvPr/>
        </p:nvSpPr>
        <p:spPr>
          <a:xfrm>
            <a:off x="790575" y="2114550"/>
            <a:ext cx="10287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n_diff, is_last_speaker, consecutive_own_turns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FE18BD2-0C69-47DE-95BC-373E5C1EF9C0}"/>
              </a:ext>
            </a:extLst>
          </p:cNvPr>
          <p:cNvSpPr>
            <a:spLocks noGrp="1"/>
          </p:cNvSpPr>
          <p:nvPr/>
        </p:nvSpPr>
        <p:spPr>
          <a:xfrm>
            <a:off x="790575" y="2981325"/>
            <a:ext cx="723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Ответ на предыдущую реплику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5AC852-5FDD-4333-8FA1-1FA951A9930A}"/>
              </a:ext>
            </a:extLst>
          </p:cNvPr>
          <p:cNvSpPr>
            <a:spLocks noGrp="1"/>
          </p:cNvSpPr>
          <p:nvPr/>
        </p:nvSpPr>
        <p:spPr>
          <a:xfrm>
            <a:off x="790575" y="3467100"/>
            <a:ext cx="10382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avg_prev_overlap, contains_echo_share, shared_vocab_ratio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1D6EA51-C70C-4107-861A-D311A2F78786}"/>
              </a:ext>
            </a:extLst>
          </p:cNvPr>
          <p:cNvSpPr>
            <a:spLocks noGrp="1"/>
          </p:cNvSpPr>
          <p:nvPr/>
        </p:nvSpPr>
        <p:spPr>
          <a:xfrm>
            <a:off x="790575" y="4333875"/>
            <a:ext cx="5048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Стиль текста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6329957-97D5-47F8-9329-DD44307813F9}"/>
              </a:ext>
            </a:extLst>
          </p:cNvPr>
          <p:cNvSpPr>
            <a:spLocks noGrp="1"/>
          </p:cNvSpPr>
          <p:nvPr/>
        </p:nvSpPr>
        <p:spPr>
          <a:xfrm>
            <a:off x="790575" y="4819650"/>
            <a:ext cx="10287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uppercase, алфавит, пунктуация</a:t>
            </a:r>
          </a:p>
        </p:txBody>
      </p:sp>
    </p:spTree>
    <p:extLst>
      <p:ext uri="{BB962C8B-B14F-4D97-AF65-F5344CB8AC3E}">
        <p14:creationId xmlns:p14="http://schemas.microsoft.com/office/powerpoint/2010/main" val="1081081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C43C568-B012-4FC6-9C77-BB99CA77345B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Какие признаки я придумала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03BAF43-DF58-48B5-B47A-A74C02120610}"/>
              </a:ext>
            </a:extLst>
          </p:cNvPr>
          <p:cNvSpPr>
            <a:spLocks noGrp="1"/>
          </p:cNvSpPr>
          <p:nvPr/>
        </p:nvSpPr>
        <p:spPr>
          <a:xfrm>
            <a:off x="819150" y="1524000"/>
            <a:ext cx="466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Порядок диалога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650DD0-76B0-49A0-835B-D8D78D614C14}"/>
              </a:ext>
            </a:extLst>
          </p:cNvPr>
          <p:cNvSpPr>
            <a:spLocks noGrp="1"/>
          </p:cNvSpPr>
          <p:nvPr/>
        </p:nvSpPr>
        <p:spPr>
          <a:xfrm>
            <a:off x="819150" y="2009775"/>
            <a:ext cx="10287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n_diff, is_last_speaker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9E01D1-7C96-49DB-A6AE-401C87D144CB}"/>
              </a:ext>
            </a:extLst>
          </p:cNvPr>
          <p:cNvSpPr>
            <a:spLocks noGrp="1"/>
          </p:cNvSpPr>
          <p:nvPr/>
        </p:nvSpPr>
        <p:spPr>
          <a:xfrm>
            <a:off x="819150" y="28194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Реакция на собеседника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1163E34-38DE-4FC2-ABA6-1956471BCD3B}"/>
              </a:ext>
            </a:extLst>
          </p:cNvPr>
          <p:cNvSpPr>
            <a:spLocks noGrp="1"/>
          </p:cNvSpPr>
          <p:nvPr/>
        </p:nvSpPr>
        <p:spPr>
          <a:xfrm>
            <a:off x="819150" y="3305175"/>
            <a:ext cx="10572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avg_prev_overlap, exact_echo_share, avg_prev_similarity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46A34A3-A37C-44E9-ABB4-F604C5882E43}"/>
              </a:ext>
            </a:extLst>
          </p:cNvPr>
          <p:cNvSpPr>
            <a:spLocks noGrp="1"/>
          </p:cNvSpPr>
          <p:nvPr/>
        </p:nvSpPr>
        <p:spPr>
          <a:xfrm>
            <a:off x="819150" y="410527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Стиль письма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2EA53B2-34A8-44AA-B035-2557FF4A4C51}"/>
              </a:ext>
            </a:extLst>
          </p:cNvPr>
          <p:cNvSpPr>
            <a:spLocks noGrp="1"/>
          </p:cNvSpPr>
          <p:nvPr/>
        </p:nvSpPr>
        <p:spPr>
          <a:xfrm>
            <a:off x="819150" y="4591050"/>
            <a:ext cx="10287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uppercase, cyrillic, char_entropy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37727E0-0F10-4C54-904F-09D21012C76A}"/>
              </a:ext>
            </a:extLst>
          </p:cNvPr>
          <p:cNvSpPr>
            <a:spLocks noGrp="1"/>
          </p:cNvSpPr>
          <p:nvPr/>
        </p:nvSpPr>
        <p:spPr>
          <a:xfrm>
            <a:off x="819150" y="5381625"/>
            <a:ext cx="581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Длина и разнообразие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FE2920C-1037-42C4-95DA-2A7894AB9F07}"/>
              </a:ext>
            </a:extLst>
          </p:cNvPr>
          <p:cNvSpPr>
            <a:spLocks noGrp="1"/>
          </p:cNvSpPr>
          <p:nvPr/>
        </p:nvSpPr>
        <p:spPr>
          <a:xfrm>
            <a:off x="819150" y="5857875"/>
            <a:ext cx="10287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avg_msg_chars, unique_words</a:t>
            </a:r>
          </a:p>
        </p:txBody>
      </p:sp>
    </p:spTree>
    <p:extLst>
      <p:ext uri="{BB962C8B-B14F-4D97-AF65-F5344CB8AC3E}">
        <p14:creationId xmlns:p14="http://schemas.microsoft.com/office/powerpoint/2010/main" val="1721408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DBCCA8E-8E85-49F5-BFF4-97463603993F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Сравнение модельных веток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54DE2C9-B71C-CF01-DA65-1B0EC613C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54" y="1262062"/>
            <a:ext cx="9068646" cy="510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67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D416B53-606E-4D5B-9F4D-DF68118E2BF8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Итоговая модель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859468-96DC-4161-8040-4F9699D91F91}"/>
              </a:ext>
            </a:extLst>
          </p:cNvPr>
          <p:cNvSpPr>
            <a:spLocks noGrp="1"/>
          </p:cNvSpPr>
          <p:nvPr/>
        </p:nvSpPr>
        <p:spPr>
          <a:xfrm>
            <a:off x="819150" y="1666875"/>
            <a:ext cx="828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CatBoost на числовых признаках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E4360A3-9A7E-4A91-87B2-84C895701F4A}"/>
              </a:ext>
            </a:extLst>
          </p:cNvPr>
          <p:cNvSpPr>
            <a:spLocks noGrp="1"/>
          </p:cNvSpPr>
          <p:nvPr/>
        </p:nvSpPr>
        <p:spPr>
          <a:xfrm>
            <a:off x="9429750" y="1666875"/>
            <a:ext cx="190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23,75%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DE511F-BD61-4BFE-8390-FA9FA9B1331A}"/>
              </a:ext>
            </a:extLst>
          </p:cNvPr>
          <p:cNvSpPr>
            <a:spLocks noGrp="1"/>
          </p:cNvSpPr>
          <p:nvPr/>
        </p:nvSpPr>
        <p:spPr>
          <a:xfrm>
            <a:off x="819150" y="2590800"/>
            <a:ext cx="828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CatBoost + SVD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7350033-06B0-4446-8D5F-27D540E69E91}"/>
              </a:ext>
            </a:extLst>
          </p:cNvPr>
          <p:cNvSpPr>
            <a:spLocks noGrp="1"/>
          </p:cNvSpPr>
          <p:nvPr/>
        </p:nvSpPr>
        <p:spPr>
          <a:xfrm>
            <a:off x="9429750" y="2590800"/>
            <a:ext cx="190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71,25%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C0FCAD0-5382-40D6-B47F-0CCF6500F6A9}"/>
              </a:ext>
            </a:extLst>
          </p:cNvPr>
          <p:cNvSpPr>
            <a:spLocks noGrp="1"/>
          </p:cNvSpPr>
          <p:nvPr/>
        </p:nvSpPr>
        <p:spPr>
          <a:xfrm>
            <a:off x="819150" y="3514725"/>
            <a:ext cx="8429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Word + char TF-IDF, логистическая регрессия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306E76C-F66D-4F87-808A-624693AB51B1}"/>
              </a:ext>
            </a:extLst>
          </p:cNvPr>
          <p:cNvSpPr>
            <a:spLocks noGrp="1"/>
          </p:cNvSpPr>
          <p:nvPr/>
        </p:nvSpPr>
        <p:spPr>
          <a:xfrm>
            <a:off x="9429750" y="3514725"/>
            <a:ext cx="190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5%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13201B5-430D-4E5B-8130-30975259EBFE}"/>
              </a:ext>
            </a:extLst>
          </p:cNvPr>
          <p:cNvSpPr>
            <a:spLocks noGrp="1"/>
          </p:cNvSpPr>
          <p:nvPr/>
        </p:nvSpPr>
        <p:spPr>
          <a:xfrm>
            <a:off x="819150" y="5019675"/>
            <a:ext cx="4619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C1A23"/>
                </a:solidFill>
                <a:latin typeface="Arial"/>
                <a:ea typeface="Arial"/>
                <a:cs typeface="Arial"/>
              </a:rPr>
              <a:t>Смесь 0,1823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0CCBA8-34A1-468B-9F60-C10059FA928D}"/>
              </a:ext>
            </a:extLst>
          </p:cNvPr>
          <p:cNvSpPr>
            <a:spLocks noGrp="1"/>
          </p:cNvSpPr>
          <p:nvPr/>
        </p:nvSpPr>
        <p:spPr>
          <a:xfrm>
            <a:off x="5619750" y="5019675"/>
            <a:ext cx="576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7055F4"/>
                </a:solidFill>
                <a:latin typeface="Arial"/>
                <a:ea typeface="Arial"/>
                <a:cs typeface="Arial"/>
              </a:rPr>
              <a:t>С </a:t>
            </a:r>
            <a:r>
              <a:rPr sz="2100" b="1" dirty="0" err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поправкой</a:t>
            </a:r>
            <a:r>
              <a:rPr sz="2100" b="1" dirty="0">
                <a:solidFill>
                  <a:srgbClr val="7055F4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на</a:t>
            </a:r>
            <a:r>
              <a:rPr sz="2100" b="1" dirty="0">
                <a:solidFill>
                  <a:srgbClr val="7055F4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пару</a:t>
            </a:r>
            <a:r>
              <a:rPr lang="ru-RU" sz="2100" b="1" dirty="0">
                <a:solidFill>
                  <a:srgbClr val="7055F4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100" b="1" dirty="0" err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бот+бот</a:t>
            </a:r>
            <a:r>
              <a:rPr sz="2100" b="1" dirty="0">
                <a:solidFill>
                  <a:srgbClr val="7055F4"/>
                </a:solidFill>
                <a:latin typeface="Arial"/>
                <a:ea typeface="Arial"/>
                <a:cs typeface="Arial"/>
              </a:rPr>
              <a:t> 0,1759</a:t>
            </a:r>
          </a:p>
        </p:txBody>
      </p:sp>
    </p:spTree>
    <p:extLst>
      <p:ext uri="{BB962C8B-B14F-4D97-AF65-F5344CB8AC3E}">
        <p14:creationId xmlns:p14="http://schemas.microsoft.com/office/powerpoint/2010/main" val="1197275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117F8BD-F4A1-4A8B-8806-80F829EF5D6E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Какие группы признаков дали прирост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F7AE099-2220-4BF0-AD30-F5DBBFC4BEB4}"/>
              </a:ext>
            </a:extLst>
          </p:cNvPr>
          <p:cNvSpPr>
            <a:spLocks noGrp="1"/>
          </p:cNvSpPr>
          <p:nvPr/>
        </p:nvSpPr>
        <p:spPr>
          <a:xfrm>
            <a:off x="762000" y="1362075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C1A23"/>
                </a:solidFill>
                <a:latin typeface="Arial"/>
                <a:ea typeface="Arial"/>
                <a:cs typeface="Arial"/>
              </a:rPr>
              <a:t>Ухудшение OOF LogLoss после удаления группы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A85EF1F-CF0D-4695-B495-40787833EF0E}"/>
              </a:ext>
            </a:extLst>
          </p:cNvPr>
          <p:cNvGraphicFramePr/>
          <p:nvPr/>
        </p:nvGraphicFramePr>
        <p:xfrm>
          <a:off x="714375" y="2133600"/>
          <a:ext cx="10668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50DFA5E-6263-4992-93FD-49D2D70352B9}"/>
              </a:ext>
            </a:extLst>
          </p:cNvPr>
          <p:cNvSpPr>
            <a:spLocks noGrp="1"/>
          </p:cNvSpPr>
          <p:nvPr/>
        </p:nvSpPr>
        <p:spPr>
          <a:xfrm>
            <a:off x="752475" y="5705475"/>
            <a:ext cx="1057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7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616F"/>
                </a:solidFill>
                <a:latin typeface="Arial"/>
                <a:ea typeface="Arial"/>
                <a:cs typeface="Arial"/>
              </a:rPr>
              <a:t>База 0,1808. Интервалы неопределённости посчитаны бутстрепом по диалогам.</a:t>
            </a:r>
          </a:p>
        </p:txBody>
      </p:sp>
    </p:spTree>
    <p:extLst>
      <p:ext uri="{BB962C8B-B14F-4D97-AF65-F5344CB8AC3E}">
        <p14:creationId xmlns:p14="http://schemas.microsoft.com/office/powerpoint/2010/main" val="987819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D6E2D31-3CEB-409A-802F-E0E8924BFAD1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Новые признаки и регуляризация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1CEBBE9-D6C2-4FAB-B9A9-512D06CB64D6}"/>
              </a:ext>
            </a:extLst>
          </p:cNvPr>
          <p:cNvSpPr>
            <a:spLocks noGrp="1"/>
          </p:cNvSpPr>
          <p:nvPr/>
        </p:nvSpPr>
        <p:spPr>
          <a:xfrm>
            <a:off x="819150" y="1609725"/>
            <a:ext cx="7143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C1A23"/>
                </a:solidFill>
                <a:latin typeface="Arial"/>
                <a:ea typeface="Arial"/>
                <a:cs typeface="Arial"/>
              </a:rPr>
              <a:t>Смесь без 11 новых признаков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871638C-1605-4192-BB87-BAB271148948}"/>
              </a:ext>
            </a:extLst>
          </p:cNvPr>
          <p:cNvSpPr>
            <a:spLocks noGrp="1"/>
          </p:cNvSpPr>
          <p:nvPr/>
        </p:nvSpPr>
        <p:spPr>
          <a:xfrm>
            <a:off x="7562850" y="1609725"/>
            <a:ext cx="2095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616F"/>
                </a:solidFill>
                <a:latin typeface="Arial"/>
                <a:ea typeface="Arial"/>
                <a:cs typeface="Arial"/>
              </a:rPr>
              <a:t>600 деревьев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3DB84FF-E605-4224-B3EA-00C1E5E0B44E}"/>
              </a:ext>
            </a:extLst>
          </p:cNvPr>
          <p:cNvSpPr>
            <a:spLocks noGrp="1"/>
          </p:cNvSpPr>
          <p:nvPr/>
        </p:nvSpPr>
        <p:spPr>
          <a:xfrm>
            <a:off x="9648825" y="1609725"/>
            <a:ext cx="2095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800 деревьев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299E00B-8DA0-432B-84DD-316E52F7A20A}"/>
              </a:ext>
            </a:extLst>
          </p:cNvPr>
          <p:cNvSpPr>
            <a:spLocks noGrp="1"/>
          </p:cNvSpPr>
          <p:nvPr/>
        </p:nvSpPr>
        <p:spPr>
          <a:xfrm>
            <a:off x="838200" y="2409825"/>
            <a:ext cx="5524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seed 23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8E40E9D-688E-4873-8D22-335FB8F6467F}"/>
              </a:ext>
            </a:extLst>
          </p:cNvPr>
          <p:cNvSpPr>
            <a:spLocks noGrp="1"/>
          </p:cNvSpPr>
          <p:nvPr/>
        </p:nvSpPr>
        <p:spPr>
          <a:xfrm>
            <a:off x="7629525" y="2409825"/>
            <a:ext cx="18859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0,1774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ED3A64D-0CB4-4AFC-8496-4B720FB69155}"/>
              </a:ext>
            </a:extLst>
          </p:cNvPr>
          <p:cNvSpPr>
            <a:spLocks noGrp="1"/>
          </p:cNvSpPr>
          <p:nvPr/>
        </p:nvSpPr>
        <p:spPr>
          <a:xfrm>
            <a:off x="9648825" y="2409825"/>
            <a:ext cx="18859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0,1759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2DEC6BD-10D8-40C8-BAA7-BB15978A7BAD}"/>
              </a:ext>
            </a:extLst>
          </p:cNvPr>
          <p:cNvSpPr>
            <a:spLocks noGrp="1"/>
          </p:cNvSpPr>
          <p:nvPr/>
        </p:nvSpPr>
        <p:spPr>
          <a:xfrm>
            <a:off x="838200" y="3133725"/>
            <a:ext cx="5524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seed 42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406E88-C99C-46BC-8639-5FC99864DBE2}"/>
              </a:ext>
            </a:extLst>
          </p:cNvPr>
          <p:cNvSpPr>
            <a:spLocks noGrp="1"/>
          </p:cNvSpPr>
          <p:nvPr/>
        </p:nvSpPr>
        <p:spPr>
          <a:xfrm>
            <a:off x="7629525" y="3133725"/>
            <a:ext cx="18859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0,1741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58EF24-814D-4C48-AB53-12D3DD931317}"/>
              </a:ext>
            </a:extLst>
          </p:cNvPr>
          <p:cNvSpPr>
            <a:spLocks noGrp="1"/>
          </p:cNvSpPr>
          <p:nvPr/>
        </p:nvSpPr>
        <p:spPr>
          <a:xfrm>
            <a:off x="9648825" y="3133725"/>
            <a:ext cx="18859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0,1729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A8B8C9A-7D33-4FF1-808F-DD040162E107}"/>
              </a:ext>
            </a:extLst>
          </p:cNvPr>
          <p:cNvSpPr>
            <a:spLocks noGrp="1"/>
          </p:cNvSpPr>
          <p:nvPr/>
        </p:nvSpPr>
        <p:spPr>
          <a:xfrm>
            <a:off x="838200" y="3857625"/>
            <a:ext cx="5524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seed 7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D215322-47B2-4694-BA0C-DA666F35D32C}"/>
              </a:ext>
            </a:extLst>
          </p:cNvPr>
          <p:cNvSpPr>
            <a:spLocks noGrp="1"/>
          </p:cNvSpPr>
          <p:nvPr/>
        </p:nvSpPr>
        <p:spPr>
          <a:xfrm>
            <a:off x="7629525" y="3857625"/>
            <a:ext cx="18859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0,1776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85E019A-93C5-4045-B98E-B9F4ED55D129}"/>
              </a:ext>
            </a:extLst>
          </p:cNvPr>
          <p:cNvSpPr>
            <a:spLocks noGrp="1"/>
          </p:cNvSpPr>
          <p:nvPr/>
        </p:nvSpPr>
        <p:spPr>
          <a:xfrm>
            <a:off x="9648825" y="3857625"/>
            <a:ext cx="18859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0,1756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322E54B-ECDD-4410-9789-C3850C8AD8F1}"/>
              </a:ext>
            </a:extLst>
          </p:cNvPr>
          <p:cNvSpPr>
            <a:spLocks noGrp="1"/>
          </p:cNvSpPr>
          <p:nvPr/>
        </p:nvSpPr>
        <p:spPr>
          <a:xfrm>
            <a:off x="838200" y="5305425"/>
            <a:ext cx="104775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1A23"/>
                </a:solidFill>
                <a:latin typeface="Arial"/>
                <a:ea typeface="Arial"/>
                <a:cs typeface="Arial"/>
              </a:rPr>
              <a:t>Новые 11 признаков не вошли в финальную модель.</a:t>
            </a:r>
          </a:p>
        </p:txBody>
      </p:sp>
    </p:spTree>
    <p:extLst>
      <p:ext uri="{BB962C8B-B14F-4D97-AF65-F5344CB8AC3E}">
        <p14:creationId xmlns:p14="http://schemas.microsoft.com/office/powerpoint/2010/main" val="1418896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A77C802-CCFD-443B-AF38-D57A0851B839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Как менялось качество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9E30F51-F27A-4B91-95AF-6A72493CF1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697"/>
          <a:stretch>
            <a:fillRect/>
          </a:stretch>
        </p:blipFill>
        <p:spPr>
          <a:xfrm>
            <a:off x="1774031" y="1133475"/>
            <a:ext cx="8643938" cy="4257675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461C2C3-B459-4373-8AD4-DB9D2A1F9791}"/>
              </a:ext>
            </a:extLst>
          </p:cNvPr>
          <p:cNvSpPr>
            <a:spLocks noGrp="1"/>
          </p:cNvSpPr>
          <p:nvPr/>
        </p:nvSpPr>
        <p:spPr>
          <a:xfrm>
            <a:off x="762000" y="5953125"/>
            <a:ext cx="1047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4-е место на публичном лидерборде</a:t>
            </a:r>
          </a:p>
        </p:txBody>
      </p:sp>
    </p:spTree>
    <p:extLst>
      <p:ext uri="{BB962C8B-B14F-4D97-AF65-F5344CB8AC3E}">
        <p14:creationId xmlns:p14="http://schemas.microsoft.com/office/powerpoint/2010/main" val="103994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5F167BC-5493-437E-88A2-5564A6C24814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Ограничения и следующая итерация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A50718A-F292-4197-BA40-129B1343AD12}"/>
              </a:ext>
            </a:extLst>
          </p:cNvPr>
          <p:cNvSpPr>
            <a:spLocks noGrp="1"/>
          </p:cNvSpPr>
          <p:nvPr/>
        </p:nvSpPr>
        <p:spPr>
          <a:xfrm>
            <a:off x="809625" y="1647825"/>
            <a:ext cx="681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Короткие диалоги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F1B7EFF-DD53-450C-B223-75838870D8E9}"/>
              </a:ext>
            </a:extLst>
          </p:cNvPr>
          <p:cNvSpPr>
            <a:spLocks noGrp="1"/>
          </p:cNvSpPr>
          <p:nvPr/>
        </p:nvSpPr>
        <p:spPr>
          <a:xfrm>
            <a:off x="809625" y="219075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OOF LogLoss 0,289 при длине 2-4 реплики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D9A1230-B16A-434D-9063-1707130359FC}"/>
              </a:ext>
            </a:extLst>
          </p:cNvPr>
          <p:cNvSpPr>
            <a:spLocks noGrp="1"/>
          </p:cNvSpPr>
          <p:nvPr/>
        </p:nvSpPr>
        <p:spPr>
          <a:xfrm>
            <a:off x="809625" y="3228975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Поправка на состав пары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6B06FF3-1A30-4F4F-92F7-4EA2DE68DB29}"/>
              </a:ext>
            </a:extLst>
          </p:cNvPr>
          <p:cNvSpPr>
            <a:spLocks noGrp="1"/>
          </p:cNvSpPr>
          <p:nvPr/>
        </p:nvSpPr>
        <p:spPr>
          <a:xfrm>
            <a:off x="809625" y="377190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Проверена на train, состав test неизвестен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B6D7359-03A8-4F04-ADD7-D15D3323A006}"/>
              </a:ext>
            </a:extLst>
          </p:cNvPr>
          <p:cNvSpPr>
            <a:spLocks noGrp="1"/>
          </p:cNvSpPr>
          <p:nvPr/>
        </p:nvSpPr>
        <p:spPr>
          <a:xfrm>
            <a:off x="809625" y="4800600"/>
            <a:ext cx="666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Следующий этап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FF0A81-69D3-41A0-AA01-7F5E0972D927}"/>
              </a:ext>
            </a:extLst>
          </p:cNvPr>
          <p:cNvSpPr>
            <a:spLocks noGrp="1"/>
          </p:cNvSpPr>
          <p:nvPr/>
        </p:nvSpPr>
        <p:spPr>
          <a:xfrm>
            <a:off x="809625" y="534352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1A23"/>
                </a:solidFill>
                <a:latin typeface="Arial"/>
                <a:ea typeface="Arial"/>
                <a:cs typeface="Arial"/>
              </a:rPr>
              <a:t>калибровка, сравнение поправки, сервис предсказания</a:t>
            </a:r>
          </a:p>
        </p:txBody>
      </p:sp>
    </p:spTree>
    <p:extLst>
      <p:ext uri="{BB962C8B-B14F-4D97-AF65-F5344CB8AC3E}">
        <p14:creationId xmlns:p14="http://schemas.microsoft.com/office/powerpoint/2010/main" val="71989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41344E9-67FF-417C-94EC-2AE075327BF3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Один запуск от данных до сабмита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20A4ACD-3B34-4158-BB29-7E98BA0C2408}"/>
              </a:ext>
            </a:extLst>
          </p:cNvPr>
          <p:cNvSpPr>
            <a:spLocks noGrp="1"/>
          </p:cNvSpPr>
          <p:nvPr/>
        </p:nvSpPr>
        <p:spPr>
          <a:xfrm>
            <a:off x="666750" y="6334125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pPr>
            <a:endParaRPr sz="1275" b="0" dirty="0">
              <a:solidFill>
                <a:srgbClr val="65616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7C03AE8-A1D1-B7D5-A791-C361CEB88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89635"/>
            <a:ext cx="9170529" cy="525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55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468987F-F087-4E6A-94D1-61D94CAEB857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Pydantic проверяет входные данные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2A4BE5E-7A32-43B9-9A62-EAD643FF5F50}"/>
              </a:ext>
            </a:extLst>
          </p:cNvPr>
          <p:cNvSpPr>
            <a:spLocks noGrp="1"/>
          </p:cNvSpPr>
          <p:nvPr/>
        </p:nvSpPr>
        <p:spPr>
          <a:xfrm>
            <a:off x="666750" y="6334125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pPr>
            <a:r>
              <a:rPr lang="ru-RU" sz="1275" b="0" dirty="0">
                <a:solidFill>
                  <a:srgbClr val="65616F"/>
                </a:solidFill>
                <a:latin typeface="Arial"/>
                <a:ea typeface="Arial"/>
                <a:cs typeface="Arial"/>
              </a:rPr>
              <a:t>Код проекта: main.py, строки 35-64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1193EA-5EC0-BB41-F7EE-77153E747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238300"/>
            <a:ext cx="8963025" cy="43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24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37D1052-A514-429C-AA95-FF8B56331C80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Проверка данных и Parquet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8693840-EC1E-442F-8F57-00764F8D2064}"/>
              </a:ext>
            </a:extLst>
          </p:cNvPr>
          <p:cNvSpPr>
            <a:spLocks noGrp="1"/>
          </p:cNvSpPr>
          <p:nvPr/>
        </p:nvSpPr>
        <p:spPr>
          <a:xfrm>
            <a:off x="666750" y="6334125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616F"/>
                </a:solidFill>
                <a:latin typeface="Arial"/>
                <a:ea typeface="Arial"/>
                <a:cs typeface="Arial"/>
              </a:rPr>
              <a:t>Код проекта: main.py, строки 125-141 и 150-156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DB9833-25CA-EB88-F6E9-00205FDE5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234501"/>
            <a:ext cx="10696575" cy="202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2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72D0DF5-9E31-485E-A571-1E583907C6C9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Как считается реакция на реплику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1CA9FDC-4E40-4D27-9FDD-5BDA86D1A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30400" y="1266825"/>
            <a:ext cx="8331200" cy="46863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11CE202-1105-44A9-9851-18ADE6F9C0FD}"/>
              </a:ext>
            </a:extLst>
          </p:cNvPr>
          <p:cNvSpPr>
            <a:spLocks noGrp="1"/>
          </p:cNvSpPr>
          <p:nvPr/>
        </p:nvSpPr>
        <p:spPr>
          <a:xfrm>
            <a:off x="666750" y="6334125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616F"/>
                </a:solidFill>
                <a:latin typeface="Arial"/>
                <a:ea typeface="Arial"/>
                <a:cs typeface="Arial"/>
              </a:rPr>
              <a:t>Код проекта: features.py, строки 56-71</a:t>
            </a:r>
          </a:p>
        </p:txBody>
      </p:sp>
    </p:spTree>
    <p:extLst>
      <p:ext uri="{BB962C8B-B14F-4D97-AF65-F5344CB8AC3E}">
        <p14:creationId xmlns:p14="http://schemas.microsoft.com/office/powerpoint/2010/main" val="278745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34278B2-38D9-4035-A81E-F0F4596DDEDB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Фиксация зависимостей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3CA794-3483-E28E-B8C2-11E07074F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1057275"/>
            <a:ext cx="5529476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9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AF93243-837D-46DB-85E6-85C2ADEB2726}"/>
              </a:ext>
            </a:extLst>
          </p:cNvPr>
          <p:cNvSpPr>
            <a:spLocks noGrp="1"/>
          </p:cNvSpPr>
          <p:nvPr/>
        </p:nvSpPr>
        <p:spPr>
          <a:xfrm>
            <a:off x="619125" y="409575"/>
            <a:ext cx="10934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MLflow фиксирует эксперименты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F8E17F2-82DE-4412-BEFA-8945B2113B9A}"/>
              </a:ext>
            </a:extLst>
          </p:cNvPr>
          <p:cNvSpPr>
            <a:spLocks noGrp="1"/>
          </p:cNvSpPr>
          <p:nvPr/>
        </p:nvSpPr>
        <p:spPr>
          <a:xfrm>
            <a:off x="619125" y="6143625"/>
            <a:ext cx="1047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65616F"/>
                </a:solidFill>
                <a:latin typeface="Arial"/>
                <a:ea typeface="Arial"/>
                <a:cs typeface="Arial"/>
              </a:rPr>
              <a:t>http://127.0.0.1:5055/#/experiments/1/runs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23B002-E027-E130-56C4-7DB8816AA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52" y="1057274"/>
            <a:ext cx="8200973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8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E2722-E10B-4557-C979-D3EA2BA70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432D2F6-5777-D134-7346-C76CBA38D6EA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10477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5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575" b="1">
                <a:solidFill>
                  <a:srgbClr val="7055F4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7055F4"/>
                </a:solidFill>
                <a:latin typeface="Arial"/>
                <a:ea typeface="Arial"/>
                <a:cs typeface="Arial"/>
              </a:rPr>
              <a:t>Бот или человек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981D1BD-8F4C-12F5-EB77-CFA3473EF8B1}"/>
              </a:ext>
            </a:extLst>
          </p:cNvPr>
          <p:cNvSpPr>
            <a:spLocks noGrp="1"/>
          </p:cNvSpPr>
          <p:nvPr/>
        </p:nvSpPr>
        <p:spPr>
          <a:xfrm>
            <a:off x="752475" y="27813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1C1A23"/>
                </a:solidFill>
                <a:latin typeface="Arial"/>
                <a:ea typeface="Arial"/>
                <a:cs typeface="Arial"/>
              </a:defRPr>
            </a:pPr>
            <a:r>
              <a:rPr lang="ru-RU" sz="2325" b="0" dirty="0">
                <a:solidFill>
                  <a:srgbClr val="1C1A23"/>
                </a:solidFill>
                <a:latin typeface="Arial"/>
                <a:ea typeface="Arial"/>
                <a:cs typeface="Arial"/>
              </a:rPr>
              <a:t>Предзащита</a:t>
            </a:r>
            <a:endParaRPr sz="2325" b="0" dirty="0">
              <a:solidFill>
                <a:srgbClr val="1C1A2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6BC0D9F-53C6-8BA7-8033-04425A88E053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5616F"/>
                </a:solidFill>
                <a:latin typeface="Arial"/>
                <a:ea typeface="Arial"/>
                <a:cs typeface="Arial"/>
              </a:defRPr>
            </a:pPr>
            <a:r>
              <a:rPr lang="ru-RU" sz="1725" dirty="0">
                <a:solidFill>
                  <a:srgbClr val="65616F"/>
                </a:solidFill>
                <a:latin typeface="Arial"/>
                <a:ea typeface="Arial"/>
                <a:cs typeface="Arial"/>
              </a:rPr>
              <a:t>Майя Горшенина</a:t>
            </a:r>
            <a:endParaRPr sz="1725" b="0" dirty="0">
              <a:solidFill>
                <a:srgbClr val="65616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2918286"/>
      </p:ext>
    </p:extLst>
  </p:cSld>
  <p:clrMapOvr>
    <a:masterClrMapping/>
  </p:clrMapOvr>
</p:sld>
</file>

<file path=ppt/theme/theme1.xml><?xml version="1.0" encoding="utf-8"?>
<a:theme xmlns:a="http://schemas.openxmlformats.org/drawingml/2006/main" name="Course project">
  <a:themeElements>
    <a:clrScheme name="Course projec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ourse projec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urse project">
  <a:themeElements>
    <a:clrScheme name="Course projec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ourse projec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1423</Words>
  <Application>Microsoft Office PowerPoint</Application>
  <DocSecurity>0</DocSecurity>
  <PresentationFormat>Широкоэкранный</PresentationFormat>
  <Paragraphs>110</Paragraphs>
  <Slides>21</Slides>
  <Notes>21</Notes>
  <HiddenSlides>5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4" baseType="lpstr">
      <vt:lpstr>Aptos</vt:lpstr>
      <vt:lpstr>Arial</vt:lpstr>
      <vt:lpstr>Course project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 or human</dc:title>
  <dc:creator/>
  <cp:lastModifiedBy>Mayya Gorshenina</cp:lastModifiedBy>
  <cp:revision>1</cp:revision>
  <dcterms:created xsi:type="dcterms:W3CDTF">2026-10-13T22:18:44Z</dcterms:created>
  <dcterms:modified xsi:type="dcterms:W3CDTF">2026-10-14T11:12:30Z</dcterms:modified>
</cp:coreProperties>
</file>